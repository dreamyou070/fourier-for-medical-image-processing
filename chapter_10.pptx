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9" r:id="rId5"/>
    <p:sldId id="270" r:id="rId6"/>
    <p:sldId id="272" r:id="rId7"/>
    <p:sldId id="27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67187-4217-DECF-F1B6-42E634BC4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4D0EDF-EB14-A0F6-F6C6-9ADA2EDFB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6AB28-2E0D-483C-BE4C-47A95181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DE816-6CF3-0B0F-3FE9-1230F946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DEC60-3D82-C883-A709-AF581D29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79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B7162-12B2-3BCA-9C58-75D9DA0D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086AC-BBB1-CA00-778D-07A3906CD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5C0607-30C5-9B82-8F0A-67BE105C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EF533-D6D5-DCBB-76B4-8AEDBAA61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8A88A8-5E06-C563-BFA7-58BB8465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40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EBA6F-EB93-FB61-0CE0-3DE8CA74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BEEA99-78DD-0110-7065-2C018711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8367EF-D8A4-F858-4301-375AB3D3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6C61C-091C-FF22-8DD8-D028AC8F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E69EA-D36E-E14A-8FAE-B530A2BC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6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34347-12B6-3EAB-B3F5-0B24C0BD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247E2-DC4B-FD5C-F415-4AAC2A6E5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FF947A-38A3-FAF2-38C5-07D9D473D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C8B6C4-52E5-605D-39A7-319DB54E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C325F7-B46E-46FA-BB2F-FEA53A38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DE1B70-BC57-952A-C0FF-12D152EE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85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D687C-2D66-0EBC-B556-29624F35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941044-34A0-F76F-21CE-7C593F536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A8070E-2672-7FC9-0B72-A9D76A84E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5CD06A-1847-6C59-4E1D-97D0E16A4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C92517-1C81-CBFF-2FE9-AA7D76CB0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F36B90-A348-F72A-A5A1-01395F62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18E446-5458-429B-F520-57C0C01E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C4F056-E357-8F00-B8A2-A22317FF8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071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4FFB5-EB32-B51E-8FD2-9DDE5641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DD3F97-7DBE-0E8E-6D54-3AE6A576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49067E-AC19-58D6-4E9F-6CEBF5E9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188EF4-03DA-3FE6-87EB-687897C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87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2665DB-C747-9941-4313-0AF20E2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B034F4-D786-5889-6E1D-2F68D518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EB2F5-1F94-D3C9-C9E6-CBA80418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30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380BA-B4A9-FD6E-11B3-42293B47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4EBCBC-DDE4-1262-0396-50834792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19D93-9CCB-65F3-81D7-F08F4EE48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095689-783F-0DF1-DECE-D33C498F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E2FA3-9AFD-DF0D-91C6-45346D6D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B83440-822C-930A-16BC-378E1348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50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21651-59F9-2541-7D44-CBB5C6BD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3F8311-29C5-8266-2561-E9A89906F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1E85EA-C9DA-6581-E095-B9623D06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7C69B-2E45-FE68-C232-EAB5FB1C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F86C0A-468F-8E00-7C2B-42CEE585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297D5C-A3D9-A25B-EC4D-38DD37F3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F1939-12A1-A838-8DBF-340CE4B1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A7764F-FFD8-1CD9-F5E1-0B78A0D70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1453D-4058-E916-B560-4D8379E7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208BBD-F7C3-D5F3-9C75-816591A9D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76972-6FCC-4F14-4522-F0B6D5FE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97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A40DB0-52A6-B71A-9135-F9C7105C0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A47EDD-0951-5617-71E6-30DAEEAD7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8C87F-6F26-F8BA-84E5-50447DAE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642179-96B8-8603-970A-3B0D8772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A8245A-9A19-81AC-A94D-CE2F5B28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04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BC69B48-810D-DEDA-B4AC-579DAAFA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00EC8D-BE87-60B3-9705-F2623F806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0EE452-EF2F-06B1-4839-7764B2A9F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530236-784D-48FA-823D-46140EC4BE2A}" type="datetimeFigureOut">
              <a:rPr lang="ko-KR" altLang="en-US" smtClean="0"/>
              <a:t>2024-04-20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2E232-5690-89A8-C8DA-39CE3E517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761B1-0D7D-822B-468E-0B013181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DEBBE-8E5E-4E11-B33B-060EB62199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16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E786CB-FFE8-9D05-8384-6C4C78A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</p:spPr>
        <p:txBody>
          <a:bodyPr>
            <a:normAutofit/>
          </a:bodyPr>
          <a:lstStyle/>
          <a:p>
            <a:r>
              <a:rPr lang="en-US" altLang="ko-KR" sz="1800" b="1"/>
              <a:t>1. Sampling and Interpolation</a:t>
            </a:r>
            <a:endParaRPr lang="ko-KR" altLang="en-US" sz="1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5BA09-E3A7-706F-C88B-323D5F510D19}"/>
              </a:ext>
            </a:extLst>
          </p:cNvPr>
          <p:cNvSpPr txBox="1"/>
          <p:nvPr/>
        </p:nvSpPr>
        <p:spPr>
          <a:xfrm>
            <a:off x="1022350" y="1003300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(1) sampling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D6A20-957C-49AD-68CC-859EE9B74B81}"/>
              </a:ext>
            </a:extLst>
          </p:cNvPr>
          <p:cNvSpPr txBox="1"/>
          <p:nvPr/>
        </p:nvSpPr>
        <p:spPr>
          <a:xfrm>
            <a:off x="1022350" y="1469549"/>
            <a:ext cx="10147300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sampling</a:t>
            </a:r>
            <a:r>
              <a:rPr lang="ko-KR" altLang="en-US" sz="1200">
                <a:sym typeface="Wingdings" panose="05000000000000000000" pitchFamily="2" charset="2"/>
              </a:rPr>
              <a:t> 이란 말그대로 함수에서 특정 값을 </a:t>
            </a:r>
            <a:r>
              <a:rPr lang="en-US" altLang="ko-KR" sz="1200">
                <a:sym typeface="Wingdings" panose="05000000000000000000" pitchFamily="2" charset="2"/>
              </a:rPr>
              <a:t>sampling </a:t>
            </a:r>
            <a:r>
              <a:rPr lang="ko-KR" altLang="en-US" sz="1200">
                <a:sym typeface="Wingdings" panose="05000000000000000000" pitchFamily="2" charset="2"/>
              </a:rPr>
              <a:t>하는 것이다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이를 공학적으로 해결하기 위해서는 </a:t>
            </a:r>
            <a:r>
              <a:rPr lang="en-US" altLang="ko-KR" sz="1200">
                <a:sym typeface="Wingdings" panose="05000000000000000000" pitchFamily="2" charset="2"/>
              </a:rPr>
              <a:t>sha function </a:t>
            </a:r>
            <a:r>
              <a:rPr lang="ko-KR" altLang="en-US" sz="1200">
                <a:sym typeface="Wingdings" panose="05000000000000000000" pitchFamily="2" charset="2"/>
              </a:rPr>
              <a:t>을 곱해주면 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sampling </a:t>
            </a:r>
            <a:r>
              <a:rPr lang="ko-KR" altLang="en-US" sz="1200">
                <a:sym typeface="Wingdings" panose="05000000000000000000" pitchFamily="2" charset="2"/>
              </a:rPr>
              <a:t>을 하기 전 함수를 </a:t>
            </a:r>
            <a:r>
              <a:rPr lang="en-US" altLang="ko-KR" sz="1200">
                <a:sym typeface="Wingdings" panose="05000000000000000000" pitchFamily="2" charset="2"/>
              </a:rPr>
              <a:t>g(x) </a:t>
            </a:r>
            <a:r>
              <a:rPr lang="ko-KR" altLang="en-US" sz="1200">
                <a:sym typeface="Wingdings" panose="05000000000000000000" pitchFamily="2" charset="2"/>
              </a:rPr>
              <a:t>라고 하고</a:t>
            </a:r>
            <a:r>
              <a:rPr lang="en-US" altLang="ko-KR" sz="1200">
                <a:sym typeface="Wingdings" panose="05000000000000000000" pitchFamily="2" charset="2"/>
              </a:rPr>
              <a:t>, sampling </a:t>
            </a:r>
            <a:r>
              <a:rPr lang="ko-KR" altLang="en-US" sz="1200">
                <a:sym typeface="Wingdings" panose="05000000000000000000" pitchFamily="2" charset="2"/>
              </a:rPr>
              <a:t>을 한 이후의 함수를 </a:t>
            </a:r>
            <a:r>
              <a:rPr lang="en-US" altLang="ko-KR" sz="1200">
                <a:sym typeface="Wingdings" panose="05000000000000000000" pitchFamily="2" charset="2"/>
              </a:rPr>
              <a:t>g_hat(x) </a:t>
            </a:r>
            <a:r>
              <a:rPr lang="ko-KR" altLang="en-US" sz="1200">
                <a:sym typeface="Wingdings" panose="05000000000000000000" pitchFamily="2" charset="2"/>
              </a:rPr>
              <a:t>라고 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181571D-77C2-2272-041E-0F086431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4" y="2575533"/>
            <a:ext cx="4007930" cy="3939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0472B-BD43-022B-BC98-FC982E4D7902}"/>
              </a:ext>
            </a:extLst>
          </p:cNvPr>
          <p:cNvSpPr txBox="1"/>
          <p:nvPr/>
        </p:nvSpPr>
        <p:spPr>
          <a:xfrm>
            <a:off x="5575878" y="2541385"/>
            <a:ext cx="6217054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만약 </a:t>
            </a:r>
            <a:r>
              <a:rPr lang="en-US" altLang="ko-KR" sz="1200">
                <a:sym typeface="Wingdings" panose="05000000000000000000" pitchFamily="2" charset="2"/>
              </a:rPr>
              <a:t>g(x) </a:t>
            </a:r>
            <a:r>
              <a:rPr lang="ko-KR" altLang="en-US" sz="1200">
                <a:sym typeface="Wingdings" panose="05000000000000000000" pitchFamily="2" charset="2"/>
              </a:rPr>
              <a:t>가 </a:t>
            </a:r>
            <a:r>
              <a:rPr lang="en-US" altLang="ko-KR" sz="1200">
                <a:sym typeface="Wingdings" panose="05000000000000000000" pitchFamily="2" charset="2"/>
              </a:rPr>
              <a:t>band limited </a:t>
            </a:r>
            <a:r>
              <a:rPr lang="ko-KR" altLang="en-US" sz="1200">
                <a:sym typeface="Wingdings" panose="05000000000000000000" pitchFamily="2" charset="2"/>
              </a:rPr>
              <a:t>라면 </a:t>
            </a:r>
            <a:r>
              <a:rPr lang="en-US" altLang="ko-KR" sz="1200">
                <a:sym typeface="Wingdings" panose="05000000000000000000" pitchFamily="2" charset="2"/>
              </a:rPr>
              <a:t>G(s) </a:t>
            </a:r>
            <a:r>
              <a:rPr lang="ko-KR" altLang="en-US" sz="1200">
                <a:sym typeface="Wingdings" panose="05000000000000000000" pitchFamily="2" charset="2"/>
              </a:rPr>
              <a:t>는 </a:t>
            </a:r>
            <a:r>
              <a:rPr lang="en-US" altLang="ko-KR" sz="1200">
                <a:sym typeface="Wingdings" panose="05000000000000000000" pitchFamily="2" charset="2"/>
              </a:rPr>
              <a:t>replication </a:t>
            </a:r>
            <a:r>
              <a:rPr lang="ko-KR" altLang="en-US" sz="1200">
                <a:sym typeface="Wingdings" panose="05000000000000000000" pitchFamily="2" charset="2"/>
              </a:rPr>
              <a:t>이 되고 이때 주기는 </a:t>
            </a:r>
            <a:r>
              <a:rPr lang="en-US" altLang="ko-KR" sz="1200">
                <a:sym typeface="Wingdings" panose="05000000000000000000" pitchFamily="2" charset="2"/>
              </a:rPr>
              <a:t>1/X </a:t>
            </a:r>
            <a:r>
              <a:rPr lang="ko-KR" altLang="en-US" sz="1200">
                <a:sym typeface="Wingdings" panose="05000000000000000000" pitchFamily="2" charset="2"/>
              </a:rPr>
              <a:t>가 된다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이를 식을 통해서 알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또한 만약 </a:t>
            </a:r>
            <a:r>
              <a:rPr lang="en-US" altLang="ko-KR" sz="1200">
                <a:sym typeface="Wingdings" panose="05000000000000000000" pitchFamily="2" charset="2"/>
              </a:rPr>
              <a:t>g(x) </a:t>
            </a:r>
            <a:r>
              <a:rPr lang="ko-KR" altLang="en-US" sz="1200">
                <a:sym typeface="Wingdings" panose="05000000000000000000" pitchFamily="2" charset="2"/>
              </a:rPr>
              <a:t>의 </a:t>
            </a:r>
            <a:r>
              <a:rPr lang="en-US" altLang="ko-KR" sz="1200">
                <a:sym typeface="Wingdings" panose="05000000000000000000" pitchFamily="2" charset="2"/>
              </a:rPr>
              <a:t>spectral island </a:t>
            </a:r>
            <a:r>
              <a:rPr lang="ko-KR" altLang="en-US" sz="1200">
                <a:sym typeface="Wingdings" panose="05000000000000000000" pitchFamily="2" charset="2"/>
              </a:rPr>
              <a:t>이고</a:t>
            </a:r>
            <a:r>
              <a:rPr lang="en-US" altLang="ko-KR" sz="1200">
                <a:sym typeface="Wingdings" panose="05000000000000000000" pitchFamily="2" charset="2"/>
              </a:rPr>
              <a:t>, non-overlapping </a:t>
            </a:r>
            <a:r>
              <a:rPr lang="ko-KR" altLang="en-US" sz="1200">
                <a:sym typeface="Wingdings" panose="05000000000000000000" pitchFamily="2" charset="2"/>
              </a:rPr>
              <a:t>이라면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1 /X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&gt;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2S_c </a:t>
            </a:r>
            <a:r>
              <a:rPr lang="ko-KR" altLang="en-US" sz="1200">
                <a:sym typeface="Wingdings" panose="05000000000000000000" pitchFamily="2" charset="2"/>
              </a:rPr>
              <a:t>가 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902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E786CB-FFE8-9D05-8384-6C4C78A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</p:spPr>
        <p:txBody>
          <a:bodyPr>
            <a:normAutofit/>
          </a:bodyPr>
          <a:lstStyle/>
          <a:p>
            <a:r>
              <a:rPr lang="en-US" altLang="ko-KR" sz="1800" b="1"/>
              <a:t>1. Sampling and Interpolation</a:t>
            </a:r>
            <a:endParaRPr lang="ko-KR" altLang="en-US" sz="1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5BA09-E3A7-706F-C88B-323D5F510D19}"/>
              </a:ext>
            </a:extLst>
          </p:cNvPr>
          <p:cNvSpPr txBox="1"/>
          <p:nvPr/>
        </p:nvSpPr>
        <p:spPr>
          <a:xfrm>
            <a:off x="1022350" y="1003300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(2) interpolation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D6A20-957C-49AD-68CC-859EE9B74B81}"/>
              </a:ext>
            </a:extLst>
          </p:cNvPr>
          <p:cNvSpPr txBox="1"/>
          <p:nvPr/>
        </p:nvSpPr>
        <p:spPr>
          <a:xfrm>
            <a:off x="1022350" y="1469549"/>
            <a:ext cx="1014730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interpolation </a:t>
            </a:r>
            <a:r>
              <a:rPr lang="ko-KR" altLang="en-US" sz="1200">
                <a:sym typeface="Wingdings" panose="05000000000000000000" pitchFamily="2" charset="2"/>
              </a:rPr>
              <a:t>은 보간 이라고 해석할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즉 </a:t>
            </a:r>
            <a:r>
              <a:rPr lang="en-US" altLang="ko-KR" sz="1200">
                <a:sym typeface="Wingdings" panose="05000000000000000000" pitchFamily="2" charset="2"/>
              </a:rPr>
              <a:t>g_hat(x)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g(x) </a:t>
            </a:r>
            <a:r>
              <a:rPr lang="ko-KR" altLang="en-US" sz="1200">
                <a:sym typeface="Wingdings" panose="05000000000000000000" pitchFamily="2" charset="2"/>
              </a:rPr>
              <a:t>로 복원을 하는 것이다</a:t>
            </a:r>
            <a:r>
              <a:rPr lang="en-US" altLang="ko-KR" sz="1200">
                <a:sym typeface="Wingdings" panose="05000000000000000000" pitchFamily="2" charset="2"/>
              </a:rPr>
              <a:t>. LTI system </a:t>
            </a:r>
            <a:r>
              <a:rPr lang="ko-KR" altLang="en-US" sz="1200">
                <a:sym typeface="Wingdings" panose="05000000000000000000" pitchFamily="2" charset="2"/>
              </a:rPr>
              <a:t>을 통과시키면 복원이 가능해 지는데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이를 수식적으로 써보면</a:t>
            </a:r>
            <a:r>
              <a:rPr lang="en-US" altLang="ko-KR" sz="1200">
                <a:sym typeface="Wingdings" panose="05000000000000000000" pitchFamily="2" charset="2"/>
              </a:rPr>
              <a:t>,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603381-8E83-CBE2-25FA-B126BEE1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36" y="2334452"/>
            <a:ext cx="5052929" cy="33528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E0D85B-E10D-26B2-0116-494968783349}"/>
              </a:ext>
            </a:extLst>
          </p:cNvPr>
          <p:cNvSpPr txBox="1"/>
          <p:nvPr/>
        </p:nvSpPr>
        <p:spPr>
          <a:xfrm>
            <a:off x="5862205" y="2334452"/>
            <a:ext cx="5779898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fourier transformed </a:t>
            </a:r>
            <a:r>
              <a:rPr lang="ko-KR" altLang="en-US" sz="1200">
                <a:sym typeface="Wingdings" panose="05000000000000000000" pitchFamily="2" charset="2"/>
              </a:rPr>
              <a:t>함수에 </a:t>
            </a:r>
            <a:r>
              <a:rPr lang="en-US" altLang="ko-KR" sz="1200">
                <a:sym typeface="Wingdings" panose="05000000000000000000" pitchFamily="2" charset="2"/>
              </a:rPr>
              <a:t>ideal low pass filter </a:t>
            </a:r>
            <a:r>
              <a:rPr lang="ko-KR" altLang="en-US" sz="1200">
                <a:sym typeface="Wingdings" panose="05000000000000000000" pitchFamily="2" charset="2"/>
              </a:rPr>
              <a:t>을 걸어주면 함수가 복원이 됨을 볼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완벽하게 복원이 가능하려면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1) sufficient sampling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2) proper filtering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의 조건이 필요하다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5BA09-E3A7-706F-C88B-323D5F510D19}"/>
              </a:ext>
            </a:extLst>
          </p:cNvPr>
          <p:cNvSpPr txBox="1"/>
          <p:nvPr/>
        </p:nvSpPr>
        <p:spPr>
          <a:xfrm>
            <a:off x="5862205" y="4238774"/>
            <a:ext cx="530744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(2.2) other</a:t>
            </a:r>
            <a:r>
              <a:rPr lang="ko-KR" altLang="en-US" sz="1400">
                <a:sym typeface="Wingdings" panose="05000000000000000000" pitchFamily="2" charset="2"/>
              </a:rPr>
              <a:t> </a:t>
            </a:r>
            <a:r>
              <a:rPr lang="en-US" altLang="ko-KR" sz="1400">
                <a:sym typeface="Wingdings" panose="05000000000000000000" pitchFamily="2" charset="2"/>
              </a:rPr>
              <a:t>interpolation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D6A20-957C-49AD-68CC-859EE9B74B81}"/>
              </a:ext>
            </a:extLst>
          </p:cNvPr>
          <p:cNvSpPr txBox="1"/>
          <p:nvPr/>
        </p:nvSpPr>
        <p:spPr>
          <a:xfrm>
            <a:off x="5862205" y="4705023"/>
            <a:ext cx="5307445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linear interpolation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zero order hold</a:t>
            </a:r>
          </a:p>
        </p:txBody>
      </p:sp>
    </p:spTree>
    <p:extLst>
      <p:ext uri="{BB962C8B-B14F-4D97-AF65-F5344CB8AC3E}">
        <p14:creationId xmlns:p14="http://schemas.microsoft.com/office/powerpoint/2010/main" val="413235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E786CB-FFE8-9D05-8384-6C4C78A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</p:spPr>
        <p:txBody>
          <a:bodyPr>
            <a:normAutofit/>
          </a:bodyPr>
          <a:lstStyle/>
          <a:p>
            <a:r>
              <a:rPr lang="en-US" altLang="ko-KR" sz="1800" b="1"/>
              <a:t>2. Nyquist Rate</a:t>
            </a:r>
            <a:endParaRPr lang="ko-KR" altLang="en-US" sz="1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5BA09-E3A7-706F-C88B-323D5F510D19}"/>
              </a:ext>
            </a:extLst>
          </p:cNvPr>
          <p:cNvSpPr txBox="1"/>
          <p:nvPr/>
        </p:nvSpPr>
        <p:spPr>
          <a:xfrm>
            <a:off x="1022350" y="1003300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(2) interpolation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D6A20-957C-49AD-68CC-859EE9B74B81}"/>
              </a:ext>
            </a:extLst>
          </p:cNvPr>
          <p:cNvSpPr txBox="1"/>
          <p:nvPr/>
        </p:nvSpPr>
        <p:spPr>
          <a:xfrm>
            <a:off x="1022350" y="1469549"/>
            <a:ext cx="10147300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만약</a:t>
            </a:r>
            <a:r>
              <a:rPr lang="en-US" altLang="ko-KR" sz="1200">
                <a:sym typeface="Wingdings" panose="05000000000000000000" pitchFamily="2" charset="2"/>
              </a:rPr>
              <a:t> g(x) </a:t>
            </a:r>
            <a:r>
              <a:rPr lang="ko-KR" altLang="en-US" sz="1200">
                <a:sym typeface="Wingdings" panose="05000000000000000000" pitchFamily="2" charset="2"/>
              </a:rPr>
              <a:t>가 </a:t>
            </a:r>
            <a:r>
              <a:rPr lang="en-US" altLang="ko-KR" sz="1200">
                <a:sym typeface="Wingdings" panose="05000000000000000000" pitchFamily="2" charset="2"/>
              </a:rPr>
              <a:t>band limited </a:t>
            </a:r>
            <a:r>
              <a:rPr lang="ko-KR" altLang="en-US" sz="1200">
                <a:sym typeface="Wingdings" panose="05000000000000000000" pitchFamily="2" charset="2"/>
              </a:rPr>
              <a:t>이면</a:t>
            </a:r>
            <a:r>
              <a:rPr lang="en-US" altLang="ko-KR" sz="1200">
                <a:sym typeface="Wingdings" panose="05000000000000000000" pitchFamily="2" charset="2"/>
              </a:rPr>
              <a:t>, g(x) </a:t>
            </a:r>
            <a:r>
              <a:rPr lang="ko-KR" altLang="en-US" sz="1200">
                <a:sym typeface="Wingdings" panose="05000000000000000000" pitchFamily="2" charset="2"/>
              </a:rPr>
              <a:t>를 완벽하게 복원할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Nyquist rate </a:t>
            </a:r>
            <a:r>
              <a:rPr lang="ko-KR" altLang="en-US" sz="1200">
                <a:sym typeface="Wingdings" panose="05000000000000000000" pitchFamily="2" charset="2"/>
              </a:rPr>
              <a:t>로 복원을 하게 되면 </a:t>
            </a:r>
            <a:endParaRPr lang="en-US" altLang="ko-KR" sz="120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만약 </a:t>
            </a:r>
            <a:r>
              <a:rPr lang="en-US" altLang="ko-KR" sz="1200">
                <a:sym typeface="Wingdings" panose="05000000000000000000" pitchFamily="2" charset="2"/>
              </a:rPr>
              <a:t>g(x) </a:t>
            </a:r>
            <a:r>
              <a:rPr lang="ko-KR" altLang="en-US" sz="1200">
                <a:sym typeface="Wingdings" panose="05000000000000000000" pitchFamily="2" charset="2"/>
              </a:rPr>
              <a:t>가 </a:t>
            </a:r>
            <a:r>
              <a:rPr lang="en-US" altLang="ko-KR" sz="1200">
                <a:sym typeface="Wingdings" panose="05000000000000000000" pitchFamily="2" charset="2"/>
              </a:rPr>
              <a:t>bandlimited </a:t>
            </a:r>
            <a:r>
              <a:rPr lang="ko-KR" altLang="en-US" sz="1200">
                <a:sym typeface="Wingdings" panose="05000000000000000000" pitchFamily="2" charset="2"/>
              </a:rPr>
              <a:t>이고</a:t>
            </a:r>
            <a:r>
              <a:rPr lang="en-US" altLang="ko-KR" sz="1200">
                <a:sym typeface="Wingdings" panose="05000000000000000000" pitchFamily="2" charset="2"/>
              </a:rPr>
              <a:t>, s_c </a:t>
            </a:r>
            <a:r>
              <a:rPr lang="ko-KR" altLang="en-US" sz="1200">
                <a:sym typeface="Wingdings" panose="05000000000000000000" pitchFamily="2" charset="2"/>
              </a:rPr>
              <a:t>에서 연속이라면</a:t>
            </a:r>
            <a:r>
              <a:rPr lang="en-US" altLang="ko-KR" sz="1200">
                <a:sym typeface="Wingdings" panose="05000000000000000000" pitchFamily="2" charset="2"/>
              </a:rPr>
              <a:t>, g(x) </a:t>
            </a:r>
            <a:r>
              <a:rPr lang="ko-KR" altLang="en-US" sz="1200">
                <a:sym typeface="Wingdings" panose="05000000000000000000" pitchFamily="2" charset="2"/>
              </a:rPr>
              <a:t>는 </a:t>
            </a:r>
            <a:r>
              <a:rPr lang="en-US" altLang="ko-KR" sz="1200">
                <a:sym typeface="Wingdings" panose="05000000000000000000" pitchFamily="2" charset="2"/>
              </a:rPr>
              <a:t>convolution </a:t>
            </a:r>
            <a:r>
              <a:rPr lang="ko-KR" altLang="en-US" sz="1200">
                <a:sym typeface="Wingdings" panose="05000000000000000000" pitchFamily="2" charset="2"/>
              </a:rPr>
              <a:t>으로 </a:t>
            </a:r>
            <a:r>
              <a:rPr lang="en-US" altLang="ko-KR" sz="1200">
                <a:sym typeface="Wingdings" panose="05000000000000000000" pitchFamily="2" charset="2"/>
              </a:rPr>
              <a:t>recover </a:t>
            </a:r>
            <a:r>
              <a:rPr lang="ko-KR" altLang="en-US" sz="1200">
                <a:sym typeface="Wingdings" panose="05000000000000000000" pitchFamily="2" charset="2"/>
              </a:rPr>
              <a:t>이 될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569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E786CB-FFE8-9D05-8384-6C4C78A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</p:spPr>
        <p:txBody>
          <a:bodyPr>
            <a:normAutofit/>
          </a:bodyPr>
          <a:lstStyle/>
          <a:p>
            <a:r>
              <a:rPr lang="en-US" altLang="ko-KR" sz="1800" b="1"/>
              <a:t>3. Aliasing</a:t>
            </a:r>
            <a:endParaRPr lang="ko-KR" altLang="en-US" sz="1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5BA09-E3A7-706F-C88B-323D5F510D19}"/>
              </a:ext>
            </a:extLst>
          </p:cNvPr>
          <p:cNvSpPr txBox="1"/>
          <p:nvPr/>
        </p:nvSpPr>
        <p:spPr>
          <a:xfrm>
            <a:off x="1022350" y="1003300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(2) interpolation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0D6A20-957C-49AD-68CC-859EE9B74B81}"/>
              </a:ext>
            </a:extLst>
          </p:cNvPr>
          <p:cNvSpPr txBox="1"/>
          <p:nvPr/>
        </p:nvSpPr>
        <p:spPr>
          <a:xfrm>
            <a:off x="1022350" y="1469549"/>
            <a:ext cx="1014730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aliasing</a:t>
            </a:r>
            <a:r>
              <a:rPr lang="ko-KR" altLang="en-US" sz="1200">
                <a:sym typeface="Wingdings" panose="05000000000000000000" pitchFamily="2" charset="2"/>
              </a:rPr>
              <a:t> 을 피하기 위한 </a:t>
            </a:r>
            <a:r>
              <a:rPr lang="en-US" altLang="ko-KR" sz="1200">
                <a:sym typeface="Wingdings" panose="05000000000000000000" pitchFamily="2" charset="2"/>
              </a:rPr>
              <a:t>signal </a:t>
            </a:r>
            <a:r>
              <a:rPr lang="ko-KR" altLang="en-US" sz="1200">
                <a:sym typeface="Wingdings" panose="05000000000000000000" pitchFamily="2" charset="2"/>
              </a:rPr>
              <a:t>들은 </a:t>
            </a:r>
            <a:r>
              <a:rPr lang="en-US" altLang="ko-KR" sz="1200">
                <a:sym typeface="Wingdings" panose="05000000000000000000" pitchFamily="2" charset="2"/>
              </a:rPr>
              <a:t>original signal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LTI </a:t>
            </a:r>
            <a:r>
              <a:rPr lang="ko-KR" altLang="en-US" sz="1200">
                <a:sym typeface="Wingdings" panose="05000000000000000000" pitchFamily="2" charset="2"/>
              </a:rPr>
              <a:t>를 통과시키고 </a:t>
            </a:r>
            <a:r>
              <a:rPr lang="en-US" altLang="ko-KR" sz="1200">
                <a:sym typeface="Wingdings" panose="05000000000000000000" pitchFamily="2" charset="2"/>
              </a:rPr>
              <a:t>, sampling </a:t>
            </a:r>
            <a:r>
              <a:rPr lang="ko-KR" altLang="en-US" sz="1200">
                <a:sym typeface="Wingdings" panose="05000000000000000000" pitchFamily="2" charset="2"/>
              </a:rPr>
              <a:t>을 하게 되면 얻어진다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예를 들어서 </a:t>
            </a:r>
            <a:r>
              <a:rPr lang="en-US" altLang="ko-KR" sz="1200">
                <a:sym typeface="Wingdings" panose="05000000000000000000" pitchFamily="2" charset="2"/>
              </a:rPr>
              <a:t>TV </a:t>
            </a:r>
            <a:r>
              <a:rPr lang="ko-KR" altLang="en-US" sz="1200">
                <a:sym typeface="Wingdings" panose="05000000000000000000" pitchFamily="2" charset="2"/>
              </a:rPr>
              <a:t>에서는 이런 작업을 통해서 </a:t>
            </a:r>
            <a:r>
              <a:rPr lang="en-US" altLang="ko-KR" sz="1200">
                <a:sym typeface="Wingdings" panose="05000000000000000000" pitchFamily="2" charset="2"/>
              </a:rPr>
              <a:t>aliasing </a:t>
            </a:r>
            <a:r>
              <a:rPr lang="ko-KR" altLang="en-US" sz="1200">
                <a:sym typeface="Wingdings" panose="05000000000000000000" pitchFamily="2" charset="2"/>
              </a:rPr>
              <a:t>이 없는 시그널만을 받게 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9D75B-56F4-2527-4650-16E671671C3A}"/>
              </a:ext>
            </a:extLst>
          </p:cNvPr>
          <p:cNvSpPr txBox="1"/>
          <p:nvPr/>
        </p:nvSpPr>
        <p:spPr>
          <a:xfrm>
            <a:off x="1022350" y="2352135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(3) frequency domain </a:t>
            </a:r>
            <a:r>
              <a:rPr lang="ko-KR" altLang="en-US" sz="1400">
                <a:sym typeface="Wingdings" panose="05000000000000000000" pitchFamily="2" charset="2"/>
              </a:rPr>
              <a:t>에서의 </a:t>
            </a:r>
            <a:r>
              <a:rPr lang="en-US" altLang="ko-KR" sz="1400">
                <a:sym typeface="Wingdings" panose="05000000000000000000" pitchFamily="2" charset="2"/>
              </a:rPr>
              <a:t>sampling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D2DA0-2D3E-AA48-BAA7-8D8F5EF9E80E}"/>
              </a:ext>
            </a:extLst>
          </p:cNvPr>
          <p:cNvSpPr txBox="1"/>
          <p:nvPr/>
        </p:nvSpPr>
        <p:spPr>
          <a:xfrm>
            <a:off x="1022350" y="2818384"/>
            <a:ext cx="10147300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만약</a:t>
            </a:r>
            <a:r>
              <a:rPr lang="en-US" altLang="ko-KR" sz="1200">
                <a:sym typeface="Wingdings" panose="05000000000000000000" pitchFamily="2" charset="2"/>
              </a:rPr>
              <a:t> g(x) </a:t>
            </a:r>
            <a:r>
              <a:rPr lang="ko-KR" altLang="en-US" sz="1200">
                <a:sym typeface="Wingdings" panose="05000000000000000000" pitchFamily="2" charset="2"/>
              </a:rPr>
              <a:t>가 </a:t>
            </a:r>
            <a:r>
              <a:rPr lang="en-US" altLang="ko-KR" sz="1200">
                <a:sym typeface="Wingdings" panose="05000000000000000000" pitchFamily="2" charset="2"/>
              </a:rPr>
              <a:t>bandlimited </a:t>
            </a:r>
            <a:r>
              <a:rPr lang="ko-KR" altLang="en-US" sz="1200">
                <a:sym typeface="Wingdings" panose="05000000000000000000" pitchFamily="2" charset="2"/>
              </a:rPr>
              <a:t>라고 하자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>
                <a:sym typeface="Wingdings" panose="05000000000000000000" pitchFamily="2" charset="2"/>
              </a:rPr>
              <a:t>frequency domain </a:t>
            </a:r>
            <a:r>
              <a:rPr lang="ko-KR" altLang="en-US" sz="1200">
                <a:sym typeface="Wingdings" panose="05000000000000000000" pitchFamily="2" charset="2"/>
              </a:rPr>
              <a:t>에서 </a:t>
            </a:r>
            <a:r>
              <a:rPr lang="en-US" altLang="ko-KR" sz="1200">
                <a:sym typeface="Wingdings" panose="05000000000000000000" pitchFamily="2" charset="2"/>
              </a:rPr>
              <a:t>sample </a:t>
            </a:r>
            <a:r>
              <a:rPr lang="ko-KR" altLang="en-US" sz="1200">
                <a:sym typeface="Wingdings" panose="05000000000000000000" pitchFamily="2" charset="2"/>
              </a:rPr>
              <a:t>을 하게 되면</a:t>
            </a:r>
            <a:r>
              <a:rPr lang="en-US" altLang="ko-KR" sz="1200">
                <a:sym typeface="Wingdings" panose="05000000000000000000" pitchFamily="2" charset="2"/>
              </a:rPr>
              <a:t>, recovered fourier spectrum </a:t>
            </a:r>
            <a:r>
              <a:rPr lang="ko-KR" altLang="en-US" sz="1200">
                <a:sym typeface="Wingdings" panose="05000000000000000000" pitchFamily="2" charset="2"/>
              </a:rPr>
              <a:t>은 수식으로 쓸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4A63E-ECCB-619E-49F4-1AE48EB74464}"/>
              </a:ext>
            </a:extLst>
          </p:cNvPr>
          <p:cNvSpPr txBox="1"/>
          <p:nvPr/>
        </p:nvSpPr>
        <p:spPr>
          <a:xfrm>
            <a:off x="1022350" y="3695160"/>
            <a:ext cx="101473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ym typeface="Wingdings" panose="05000000000000000000" pitchFamily="2" charset="2"/>
              </a:rPr>
              <a:t>(4) </a:t>
            </a:r>
            <a:r>
              <a:rPr lang="ko-KR" altLang="en-US" sz="1400">
                <a:sym typeface="Wingdings" panose="05000000000000000000" pitchFamily="2" charset="2"/>
              </a:rPr>
              <a:t>주기</a:t>
            </a:r>
            <a:r>
              <a:rPr lang="en-US" altLang="ko-KR" sz="1400">
                <a:sym typeface="Wingdings" panose="05000000000000000000" pitchFamily="2" charset="2"/>
              </a:rPr>
              <a:t> </a:t>
            </a:r>
            <a:r>
              <a:rPr lang="ko-KR" altLang="en-US" sz="1400">
                <a:sym typeface="Wingdings" panose="05000000000000000000" pitchFamily="2" charset="2"/>
              </a:rPr>
              <a:t>함수의 </a:t>
            </a:r>
            <a:r>
              <a:rPr lang="en-US" altLang="ko-KR" sz="1400">
                <a:sym typeface="Wingdings" panose="05000000000000000000" pitchFamily="2" charset="2"/>
              </a:rPr>
              <a:t>Fourier Transform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83C38A-ADDE-EC21-EC55-4FAAABD12893}"/>
              </a:ext>
            </a:extLst>
          </p:cNvPr>
          <p:cNvSpPr txBox="1"/>
          <p:nvPr/>
        </p:nvSpPr>
        <p:spPr>
          <a:xfrm>
            <a:off x="1022350" y="4161409"/>
            <a:ext cx="10147300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>
                <a:sym typeface="Wingdings" panose="05000000000000000000" pitchFamily="2" charset="2"/>
              </a:rPr>
              <a:t>주기</a:t>
            </a:r>
            <a:r>
              <a:rPr lang="en-US" altLang="ko-KR" sz="1200">
                <a:sym typeface="Wingdings" panose="05000000000000000000" pitchFamily="2" charset="2"/>
              </a:rPr>
              <a:t> </a:t>
            </a:r>
            <a:r>
              <a:rPr lang="ko-KR" altLang="en-US" sz="1200">
                <a:sym typeface="Wingdings" panose="05000000000000000000" pitchFamily="2" charset="2"/>
              </a:rPr>
              <a:t>함수도 </a:t>
            </a:r>
            <a:r>
              <a:rPr lang="en-US" altLang="ko-KR" sz="1200">
                <a:sym typeface="Wingdings" panose="05000000000000000000" pitchFamily="2" charset="2"/>
              </a:rPr>
              <a:t>fourier transform </a:t>
            </a:r>
            <a:r>
              <a:rPr lang="ko-KR" altLang="en-US" sz="1200">
                <a:sym typeface="Wingdings" panose="05000000000000000000" pitchFamily="2" charset="2"/>
              </a:rPr>
              <a:t>으로 표현해 줄 수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06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FBF09D7E4149439488EC74B13DE6E5" ma:contentTypeVersion="4" ma:contentTypeDescription="새 문서를 만듭니다." ma:contentTypeScope="" ma:versionID="d3eff02fd791c4dab55190a8b0e89fa0">
  <xsd:schema xmlns:xsd="http://www.w3.org/2001/XMLSchema" xmlns:xs="http://www.w3.org/2001/XMLSchema" xmlns:p="http://schemas.microsoft.com/office/2006/metadata/properties" xmlns:ns3="66ba1e23-fdc4-4d5f-8d30-2c5a4d8b1633" targetNamespace="http://schemas.microsoft.com/office/2006/metadata/properties" ma:root="true" ma:fieldsID="f8c953f769a1d7ca8f0e9cd1d543bdb5" ns3:_="">
    <xsd:import namespace="66ba1e23-fdc4-4d5f-8d30-2c5a4d8b163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a1e23-fdc4-4d5f-8d30-2c5a4d8b16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7611FB-5094-4C00-9B6C-12E2CA7CC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4CD7BB-C5CE-4CC5-8C57-9E77B600592D}">
  <ds:schemaRefs>
    <ds:schemaRef ds:uri="http://purl.org/dc/elements/1.1/"/>
    <ds:schemaRef ds:uri="66ba1e23-fdc4-4d5f-8d30-2c5a4d8b1633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23ABC0C-21E0-48BC-89F0-A288E8472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a1e23-fdc4-4d5f-8d30-2c5a4d8b1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356</Words>
  <Application>Microsoft Office PowerPoint</Application>
  <PresentationFormat>와이드스크린</PresentationFormat>
  <Paragraphs>31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1. Sampling and Interpolation</vt:lpstr>
      <vt:lpstr>1. Sampling and Interpolation</vt:lpstr>
      <vt:lpstr>2. Nyquist Rate</vt:lpstr>
      <vt:lpstr>3. Aliasing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ChartRLHF</dc:title>
  <dc:creator>박수연</dc:creator>
  <cp:lastModifiedBy>박수연</cp:lastModifiedBy>
  <cp:revision>13</cp:revision>
  <dcterms:created xsi:type="dcterms:W3CDTF">2024-04-08T23:42:08Z</dcterms:created>
  <dcterms:modified xsi:type="dcterms:W3CDTF">2024-04-20T01:12:24Z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0x01010000FBF09D7E4149439488EC74B13DE6E5</vt:lpwstr>
  </property>
</Properties>
</file>